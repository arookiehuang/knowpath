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7fa4b00a034138" /><Relationship Type="http://schemas.openxmlformats.org/officeDocument/2006/relationships/extended-properties" Target="/docProps/app.xml" Id="R8a7b9b08bd914cc0" /><Relationship Type="http://schemas.openxmlformats.org/officeDocument/2006/relationships/officeDocument" Target="/ppt/presentation.xml" Id="R513d8cdbbe44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f9b3a1d5ec4caf"/>
  </p:sldMasterIdLst>
  <p:notesMasterIdLst>
    <p:notesMasterId xmlns:r="http://schemas.openxmlformats.org/officeDocument/2006/relationships" r:id="Rb44270496a214a1f"/>
  </p:notesMasterIdLst>
  <p:sldIdLst>
    <p:sldId xmlns:r="http://schemas.openxmlformats.org/officeDocument/2006/relationships" id="256" r:id="Rb2e792e89bb845a4"/>
    <p:sldId xmlns:r="http://schemas.openxmlformats.org/officeDocument/2006/relationships" id="257" r:id="Rd1210ebb71b64eab"/>
    <p:sldId xmlns:r="http://schemas.openxmlformats.org/officeDocument/2006/relationships" id="258" r:id="R1a019caf5d714803"/>
    <p:sldId xmlns:r="http://schemas.openxmlformats.org/officeDocument/2006/relationships" id="259" r:id="R4c966bc0143f4714"/>
    <p:sldId xmlns:r="http://schemas.openxmlformats.org/officeDocument/2006/relationships" id="260" r:id="R2441cab92ea9494c"/>
    <p:sldId xmlns:r="http://schemas.openxmlformats.org/officeDocument/2006/relationships" id="261" r:id="Rdd4e9f17f1d8446d"/>
    <p:sldId xmlns:r="http://schemas.openxmlformats.org/officeDocument/2006/relationships" id="262" r:id="R3b5b887956ad4072"/>
    <p:sldId xmlns:r="http://schemas.openxmlformats.org/officeDocument/2006/relationships" id="263" r:id="R52bb791d8c734713"/>
    <p:sldId xmlns:r="http://schemas.openxmlformats.org/officeDocument/2006/relationships" id="264" r:id="R1c496473938c4eb4"/>
    <p:sldId xmlns:r="http://schemas.openxmlformats.org/officeDocument/2006/relationships" id="265" r:id="Ra93ab37516d54f48"/>
    <p:sldId xmlns:r="http://schemas.openxmlformats.org/officeDocument/2006/relationships" id="266" r:id="Rbe1302c00c364736"/>
    <p:sldId xmlns:r="http://schemas.openxmlformats.org/officeDocument/2006/relationships" id="267" r:id="R6953b65b606e4fb8"/>
    <p:sldId xmlns:r="http://schemas.openxmlformats.org/officeDocument/2006/relationships" id="268" r:id="R74d220c0a9704952"/>
    <p:sldId xmlns:r="http://schemas.openxmlformats.org/officeDocument/2006/relationships" id="269" r:id="R76d3b11a41fd4f4e"/>
    <p:sldId xmlns:r="http://schemas.openxmlformats.org/officeDocument/2006/relationships" id="270" r:id="R8a6b6a037d7b4ae3"/>
    <p:sldId xmlns:r="http://schemas.openxmlformats.org/officeDocument/2006/relationships" id="271" r:id="Re8579beecfb346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9b3a1d5ec4caf" /><Relationship Type="http://schemas.openxmlformats.org/officeDocument/2006/relationships/theme" Target="/ppt/theme/theme1.xml" Id="Rb68f8cf071554e96" /><Relationship Type="http://schemas.openxmlformats.org/officeDocument/2006/relationships/notesMaster" Target="/ppt/notesMasters/notesMaster1.xml" Id="Rb44270496a214a1f" /><Relationship Type="http://schemas.openxmlformats.org/officeDocument/2006/relationships/presProps" Target="/ppt/presProps.xml" Id="R3a894933078c45f6" /><Relationship Type="http://schemas.openxmlformats.org/officeDocument/2006/relationships/viewProps" Target="/ppt/viewProps.xml" Id="Ra823a6beec7d42db" /><Relationship Type="http://schemas.openxmlformats.org/officeDocument/2006/relationships/tableStyles" Target="/ppt/tableStyles.xml" Id="R6fd5f3b91adb4292" /><Relationship Type="http://schemas.openxmlformats.org/officeDocument/2006/relationships/slide" Target="/ppt/slides/slide1.xml" Id="Rb2e792e89bb845a4" /><Relationship Type="http://schemas.openxmlformats.org/officeDocument/2006/relationships/slide" Target="/ppt/slides/slide2.xml" Id="Rd1210ebb71b64eab" /><Relationship Type="http://schemas.openxmlformats.org/officeDocument/2006/relationships/slide" Target="/ppt/slides/slide3.xml" Id="R1a019caf5d714803" /><Relationship Type="http://schemas.openxmlformats.org/officeDocument/2006/relationships/slide" Target="/ppt/slides/slide4.xml" Id="R4c966bc0143f4714" /><Relationship Type="http://schemas.openxmlformats.org/officeDocument/2006/relationships/slide" Target="/ppt/slides/slide5.xml" Id="R2441cab92ea9494c" /><Relationship Type="http://schemas.openxmlformats.org/officeDocument/2006/relationships/slide" Target="/ppt/slides/slide6.xml" Id="Rdd4e9f17f1d8446d" /><Relationship Type="http://schemas.openxmlformats.org/officeDocument/2006/relationships/slide" Target="/ppt/slides/slide7.xml" Id="R3b5b887956ad4072" /><Relationship Type="http://schemas.openxmlformats.org/officeDocument/2006/relationships/slide" Target="/ppt/slides/slide8.xml" Id="R52bb791d8c734713" /><Relationship Type="http://schemas.openxmlformats.org/officeDocument/2006/relationships/slide" Target="/ppt/slides/slide9.xml" Id="R1c496473938c4eb4" /><Relationship Type="http://schemas.openxmlformats.org/officeDocument/2006/relationships/slide" Target="/ppt/slides/slide10.xml" Id="Ra93ab37516d54f48" /><Relationship Type="http://schemas.openxmlformats.org/officeDocument/2006/relationships/slide" Target="/ppt/slides/slide11.xml" Id="Rbe1302c00c364736" /><Relationship Type="http://schemas.openxmlformats.org/officeDocument/2006/relationships/slide" Target="/ppt/slides/slide12.xml" Id="R6953b65b606e4fb8" /><Relationship Type="http://schemas.openxmlformats.org/officeDocument/2006/relationships/slide" Target="/ppt/slides/slide13.xml" Id="R74d220c0a9704952" /><Relationship Type="http://schemas.openxmlformats.org/officeDocument/2006/relationships/slide" Target="/ppt/slides/slide14.xml" Id="R76d3b11a41fd4f4e" /><Relationship Type="http://schemas.openxmlformats.org/officeDocument/2006/relationships/slide" Target="/ppt/slides/slide15.xml" Id="R8a6b6a037d7b4ae3" /><Relationship Type="http://schemas.openxmlformats.org/officeDocument/2006/relationships/slide" Target="/ppt/slides/slide16.xml" Id="Re8579beecfb346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40e8bace1ad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KnowPath">
  <a:themeElements>
    <a:clrScheme name="KnowPath">
      <a:accent1>
        <a:srgbClr val="4F6BFF"/>
      </a:accent1>
      <a:accent2>
        <a:srgbClr val="7A5CFF"/>
      </a:accent2>
      <a:accent3>
        <a:srgbClr val="00C2A8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Path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e2e3c530d74ebd" /><Relationship Type="http://schemas.openxmlformats.org/officeDocument/2006/relationships/notesMaster" Target="/ppt/notesMasters/notesMaster1.xml" Id="Rfa2d24d43f064c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2ab9b25334051" /><Relationship Type="http://schemas.openxmlformats.org/officeDocument/2006/relationships/notesMaster" Target="/ppt/notesMasters/notesMaster1.xml" Id="R00dc204ea3b341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88f71d0adf4801" /><Relationship Type="http://schemas.openxmlformats.org/officeDocument/2006/relationships/notesMaster" Target="/ppt/notesMasters/notesMaster1.xml" Id="Rd5b86f7baa9244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62a4b4897846b9" /><Relationship Type="http://schemas.openxmlformats.org/officeDocument/2006/relationships/notesMaster" Target="/ppt/notesMasters/notesMaster1.xml" Id="R4e5da3105763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4dc1d9f334c26" /><Relationship Type="http://schemas.openxmlformats.org/officeDocument/2006/relationships/notesMaster" Target="/ppt/notesMasters/notesMaster1.xml" Id="R9db4567ab743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a545b1474e46e0" /><Relationship Type="http://schemas.openxmlformats.org/officeDocument/2006/relationships/notesMaster" Target="/ppt/notesMasters/notesMaster1.xml" Id="R81029befece54d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bb15203014b71" /><Relationship Type="http://schemas.openxmlformats.org/officeDocument/2006/relationships/notesMaster" Target="/ppt/notesMasters/notesMaster1.xml" Id="R4985fc232d0a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f627b9e7b643b2" /><Relationship Type="http://schemas.openxmlformats.org/officeDocument/2006/relationships/notesMaster" Target="/ppt/notesMasters/notesMaster1.xml" Id="Re44c56e488b6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e6fd524b3c4e6e" /><Relationship Type="http://schemas.openxmlformats.org/officeDocument/2006/relationships/notesMaster" Target="/ppt/notesMasters/notesMaster1.xml" Id="R4f73661865ff45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2699222a541c6" /><Relationship Type="http://schemas.openxmlformats.org/officeDocument/2006/relationships/notesMaster" Target="/ppt/notesMasters/notesMaster1.xml" Id="R0894772c0cbd4f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84c792e71345c2" /><Relationship Type="http://schemas.openxmlformats.org/officeDocument/2006/relationships/notesMaster" Target="/ppt/notesMasters/notesMaster1.xml" Id="Rfeda3eb382ea4f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e7c7661f0040be" /><Relationship Type="http://schemas.openxmlformats.org/officeDocument/2006/relationships/notesMaster" Target="/ppt/notesMasters/notesMaster1.xml" Id="R17aa75828d9444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d969f1c8634efc" /><Relationship Type="http://schemas.openxmlformats.org/officeDocument/2006/relationships/notesMaster" Target="/ppt/notesMasters/notesMaster1.xml" Id="Rf40b0993513648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55c211b00642e0" /><Relationship Type="http://schemas.openxmlformats.org/officeDocument/2006/relationships/notesMaster" Target="/ppt/notesMasters/notesMaster1.xml" Id="R556eacbbc07445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c491338b3347e8" /><Relationship Type="http://schemas.openxmlformats.org/officeDocument/2006/relationships/notesMaster" Target="/ppt/notesMasters/notesMaster1.xml" Id="R8517dcf495c947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18a6c1c170494e" /><Relationship Type="http://schemas.openxmlformats.org/officeDocument/2006/relationships/notesMaster" Target="/ppt/notesMasters/notesMaster1.xml" Id="R5b4414da1001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开场先定性：知途不是普通聊天工具，而是一个围绕复杂任务学习场景设计的 AI 学习工作台。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从真实学习痛点切入，为后续方案设计做铺垫。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这一页重点是将项目从普通聊天产品中区分出来。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明确回答评委：为什么这个作品适合人工智能应用——实践赛道。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这一页讲理念，不讲具体功能细节。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场景与价值一一对应，说明项目应用空间。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用一页讲清楚整体解决方案的四大模块。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这一页是全项目的总地图，要让评委快速理解主链路。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功能展示页不按菜单念，而是围绕用户如何被系统引导推进任务来讲。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如果评委关注工程完整性，这一页是重要支撑。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这一页既讲创新点，也讲差异化。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架构图不必太复杂，重点突出层次与 Gateway 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这一页回答“你们究竟做了多少工程工作”。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这一页强调完成度，不夸张，但要清晰可信。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这一页承担差异化和推广价值两项任务。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结尾回到一句总主张：让 AI 不只是回答问题，而是真正帮助学习者持续推进复杂任务。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ff0c4840047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3F31536-9F24-4F70-8CE7-DE19CA0B8BE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22447E-B6B7-4E76-AD57-48EB924F706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12EB14-7BF1-45AD-91DB-B7DFA8A594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5DE8A5-AE75-47A3-B204-E201E03CAC5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4b4babd9a54da3" /><Relationship Type="http://schemas.openxmlformats.org/officeDocument/2006/relationships/slideLayout" Target="/ppt/slideLayouts/slideLayout2.xml" Id="Re0b4f83c51ee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19E6ED-3F7A-4BAE-B04C-7D09E25BC56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b4f83c51ee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2b7be096774b5a" /><Relationship Type="http://schemas.openxmlformats.org/officeDocument/2006/relationships/image" Target="/ppt/media/image.png" Id="R3df2cbb098ee43e7" /><Relationship Type="http://schemas.openxmlformats.org/officeDocument/2006/relationships/notesSlide" Target="/ppt/notesSlides/notesSlide1.xml" Id="R065e1a5898e4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67c5dbd454197" /><Relationship Type="http://schemas.openxmlformats.org/officeDocument/2006/relationships/image" Target="/ppt/media/image2.png" Id="Rb1b12a56480f49a4" /><Relationship Type="http://schemas.openxmlformats.org/officeDocument/2006/relationships/notesSlide" Target="/ppt/notesSlides/notesSlide2.xml" Id="R8115fb04ce404d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c18d37102f474d" /><Relationship Type="http://schemas.openxmlformats.org/officeDocument/2006/relationships/notesSlide" Target="/ppt/notesSlides/notesSlide3.xml" Id="R9cc93023071b4f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9f376cdf04fad" /><Relationship Type="http://schemas.openxmlformats.org/officeDocument/2006/relationships/notesSlide" Target="/ppt/notesSlides/notesSlide4.xml" Id="R10d712a76362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80675800e43b9" /><Relationship Type="http://schemas.openxmlformats.org/officeDocument/2006/relationships/notesSlide" Target="/ppt/notesSlides/notesSlide5.xml" Id="R5dd064ab96394b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624f71e0974f87" /><Relationship Type="http://schemas.openxmlformats.org/officeDocument/2006/relationships/notesSlide" Target="/ppt/notesSlides/notesSlide6.xml" Id="R3ea77ae0c74f40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c7198646854b24" /><Relationship Type="http://schemas.openxmlformats.org/officeDocument/2006/relationships/notesSlide" Target="/ppt/notesSlides/notesSlide7.xml" Id="Rd1460f81055141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e6d33b42a0429b" /><Relationship Type="http://schemas.openxmlformats.org/officeDocument/2006/relationships/notesSlide" Target="/ppt/notesSlides/notesSlide8.xml" Id="R1187a9fddd5f40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7914041b8441a" /><Relationship Type="http://schemas.openxmlformats.org/officeDocument/2006/relationships/image" Target="/ppt/media/image3.png" Id="Ra79d45ff5f764671" /><Relationship Type="http://schemas.openxmlformats.org/officeDocument/2006/relationships/image" Target="/ppt/media/image4.png" Id="R69d9aee5363c4084" /><Relationship Type="http://schemas.openxmlformats.org/officeDocument/2006/relationships/image" Target="/ppt/media/image5.png" Id="R244a93c143124e98" /><Relationship Type="http://schemas.openxmlformats.org/officeDocument/2006/relationships/image" Target="/ppt/media/image6.png" Id="R3a938c2a68d948da" /><Relationship Type="http://schemas.openxmlformats.org/officeDocument/2006/relationships/image" Target="/ppt/media/image7.png" Id="R2f174bb12564495d" /><Relationship Type="http://schemas.openxmlformats.org/officeDocument/2006/relationships/notesSlide" Target="/ppt/notesSlides/notesSlide9.xml" Id="Rc487a6ed9c6848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42e21306b048bb" /><Relationship Type="http://schemas.openxmlformats.org/officeDocument/2006/relationships/image" Target="/ppt/media/image8.png" Id="R108b0aa767ea4c98" /><Relationship Type="http://schemas.openxmlformats.org/officeDocument/2006/relationships/notesSlide" Target="/ppt/notesSlides/notesSlide10.xml" Id="R62e81f048ebc41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c7454cfd044316" /><Relationship Type="http://schemas.openxmlformats.org/officeDocument/2006/relationships/notesSlide" Target="/ppt/notesSlides/notesSlide11.xml" Id="R5185e70f8b7447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dfccbbd03407b" /><Relationship Type="http://schemas.openxmlformats.org/officeDocument/2006/relationships/notesSlide" Target="/ppt/notesSlides/notesSlide12.xml" Id="Rcd89b239d1294e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e10c1142b6477f" /><Relationship Type="http://schemas.openxmlformats.org/officeDocument/2006/relationships/notesSlide" Target="/ppt/notesSlides/notesSlide13.xml" Id="R65a1c46bb97d40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4487a3b814414" /><Relationship Type="http://schemas.openxmlformats.org/officeDocument/2006/relationships/image" Target="/ppt/media/image9.png" Id="Rd267426d9baf4730" /><Relationship Type="http://schemas.openxmlformats.org/officeDocument/2006/relationships/image" Target="/ppt/media/image10.png" Id="Rf3a54573b26a4337" /><Relationship Type="http://schemas.openxmlformats.org/officeDocument/2006/relationships/notesSlide" Target="/ppt/notesSlides/notesSlide14.xml" Id="Rcd4dc076894647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9669ac1fb4ef8" /><Relationship Type="http://schemas.openxmlformats.org/officeDocument/2006/relationships/notesSlide" Target="/ppt/notesSlides/notesSlide15.xml" Id="R4ed540cabd5f4e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0353fd1eb147bc" /><Relationship Type="http://schemas.openxmlformats.org/officeDocument/2006/relationships/notesSlide" Target="/ppt/notesSlides/notesSlide16.xml" Id="R318c99e426954c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3851C-5223-43BD-9DAE-BEC278F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721C1-8288-43CB-A0D1-9FAF6DA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6F74D-DE86-40F8-843E-75182ECF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E8F9D-512A-4733-93F4-E26B9CA7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821E6-9847-4817-B527-6DFE97C6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EC063-1DBB-4FB7-8A53-75F7E98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F6BFF"/>
                </a:solidFill>
              </a:defRPr>
            </a:pPr>
            <a:r>
              <a:rPr sz="1200" b="1">
                <a:solidFill>
                  <a:srgbClr val="4F6B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808F3-1B7A-4E63-8880-2680A56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6B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46B2E-A932-4073-A09F-7C096CF3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5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6BFF"/>
                </a:solidFill>
              </a:defRPr>
            </a:pPr>
            <a:r>
              <a:rPr sz="975" b="1">
                <a:solidFill>
                  <a:srgbClr val="4F6BFF"/>
                </a:solidFill>
              </a:rPr>
              <a:t>AI 学习工作台 · 项目答辩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73726-82BD-4007-83B9-BC62649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D3D"/>
                </a:solidFill>
              </a:defRPr>
            </a:pPr>
            <a:r>
              <a:rPr sz="2550" b="1">
                <a:solidFill>
                  <a:srgbClr val="1F2D3D"/>
                </a:solidFill>
              </a:rPr>
              <a:t>知途（KnowPath）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1AB95-D290-420C-8E18-35FA24FA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F6BFF"/>
                </a:solidFill>
              </a:defRPr>
            </a:pPr>
            <a:r>
              <a:rPr sz="2100" b="1">
                <a:solidFill>
                  <a:srgbClr val="4F6BFF"/>
                </a:solidFill>
              </a:rPr>
              <a:t>面向复杂任务学习场景的 AI 学习工作台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D4EE5-9F72-41F8-980F-E8AEB8B6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聚焦“目标澄清 → 路径规划 → 学习推进 → 状态反馈”，帮助学习者把模糊目标转化为可执行路径。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FB873-37BC-4CB1-853E-C1E22B6D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711F4-3EE4-4D5B-BE8B-B9C666C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715AE-9E0D-4C35-9536-CEAD9AA0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赛道定位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DE851-B8DD-4228-A039-ACACE32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06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大学生计算机设计大赛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人工智能应用——实践赛道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6B88-C765-4285-B1E4-379EE19D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AF7A0-2BC7-4B8C-A0FD-60067552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71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A1C2E-E9A4-469A-9893-5AB7F9B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243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项目价值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8CEEA-3529-404C-A98B-7F8B938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863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06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让 AI 不只回答问题，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更持续组织学习过程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5685C-609C-46CC-A16F-47A65B68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0050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6CCDA-E4A0-45CB-BC9A-122A07F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AA728-4378-4BC6-8F04-09C226D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243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在线演示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C091C-7E59-43B4-9488-EB2AABE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863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06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部署地址：47.122.53.1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支持主链路访问与展示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7AC04-02D5-4945-AD26-93CBF1AD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32435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2cbb098ee43e7"/>
          <a:stretch xmlns:a="http://schemas.openxmlformats.org/drawingml/2006/main"/>
        </p:blipFill>
        <p:spPr>
          <a:xfrm xmlns:a="http://schemas.openxmlformats.org/drawingml/2006/main">
            <a:off x="7334250" y="2030995"/>
            <a:ext cx="4133850" cy="2586459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18875-BA2E-448B-9CA0-718904A3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团队：XXX    成员：XXX    指导教师：XXX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0F974-F776-4FD6-931C-FE6A5C3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637550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6395A-2D63-4225-81B4-1E05CD7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FE932-37FD-466B-B086-3ACB4DF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C58BC-0D6E-48EA-9EFD-5C6BFF3D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63302-844D-46D0-BAC2-F2F6EB7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A88F0-943F-41E8-A80F-443B00F2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42CD0-77A0-4269-9698-7B6EF88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5CFF"/>
                </a:solidFill>
              </a:defRPr>
            </a:pPr>
            <a:r>
              <a:rPr sz="1200" b="1">
                <a:solidFill>
                  <a:srgbClr val="7A5C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23CBA-12AA-458D-8325-C41659A2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02  项目背景与问题提出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D3AD1-045B-43B8-B795-473C225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复杂任务学习中，大学生真正缺的不是信息，而是可持续推进的路径。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8277E-BC1D-4357-9D23-5013DEB6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1B93C-DAB5-4AC2-B25D-C61D21B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647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D415D-2FE3-4EA2-B65A-DACB7E6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96D69-3110-4A3C-86D8-8379E06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痛点一：不知道从哪开始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5AC1C-8068-4F4B-880B-43249AA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用户往往知道“要完成一个项目”，却无法把目标拆解成阶段任务。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A39FB-E070-44FD-872A-3E16565F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526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F6B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A40B5-32D1-4473-880B-1358377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02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6BFF"/>
                </a:solidFill>
              </a:defRPr>
            </a:pPr>
            <a:r>
              <a:rPr sz="825" b="1">
                <a:solidFill>
                  <a:srgbClr val="4F6BFF"/>
                </a:solidFill>
              </a:rPr>
              <a:t>目标模糊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E95BA-8B6F-4C97-B373-75E3AF5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2647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672D6-A433-422F-846D-70FDFBE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ED36F-2544-46D9-9C49-3FD1D34F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0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痛点二：资料很多但路径缺失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446DE-9A71-4213-A71B-B76337B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搜索、看教程、问 AI 都能得到信息，但难以沉淀为连续可执行的学习路线。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BC72D-14E1-4F4B-89DA-D322719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2E44E-E053-4C65-8633-E6375718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02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5CFF"/>
                </a:solidFill>
              </a:defRPr>
            </a:pPr>
            <a:r>
              <a:rPr sz="825" b="1">
                <a:solidFill>
                  <a:srgbClr val="7A5CFF"/>
                </a:solidFill>
              </a:rPr>
              <a:t>路径缺失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093D7-3231-4D84-9386-C495E16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2647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F8C24-341F-4E6F-9A9A-74408A72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F5AB3-011B-455E-8EEB-058E99E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痛点三：通用 AI 难以持续陪练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A70A5-FDA4-45FA-A39F-34140926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传统一问一答式 AI 擅长给出回答，却不擅长持续追问、纠偏和推进。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6AB6F-2F11-4037-B0CF-AD3400F0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C2A8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0FDAA-EBC3-489E-94D9-1007D0E1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C2A8"/>
                </a:solidFill>
              </a:defRPr>
            </a:pPr>
            <a:r>
              <a:rPr sz="825" b="1">
                <a:solidFill>
                  <a:srgbClr val="00C2A8"/>
                </a:solidFill>
              </a:rPr>
              <a:t>过程断裂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2C672-4EAA-441B-921F-9BE02F7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81200"/>
            <a:ext cx="2647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2B304-47E1-4149-9590-4A6A361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A4B81-B1AF-4531-9ECC-408F35EB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050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痛点四：缺少过程反馈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D8D36-0EC7-46D9-813C-D441D17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学习者很难判断当前状态、节奏、认知压力与下一步动作。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BA4C7-1CA6-42A6-A04A-B4EA68F9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1526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9F43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0E1A7C-0E12-4591-B598-6D1245F5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002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F43"/>
                </a:solidFill>
              </a:defRPr>
            </a:pPr>
            <a:r>
              <a:rPr sz="825" b="1">
                <a:solidFill>
                  <a:srgbClr val="FF9F43"/>
                </a:solidFill>
              </a:rPr>
              <a:t>反馈不足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BACD9-9B1F-4DED-942B-511F6AEE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633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29B15-A938-406C-AFBA-D7C45B2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问题本质：现有工具更像“信息供给器”，而不是“学习推进器”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A8734-F03D-4E96-8344-F0D5443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5EB7F-9475-4F93-BCA0-F23C3BC5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491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复杂任务学习需要先澄清目标，再规划路径。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52FB8-4BAB-4DD2-9502-F94989AE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19598-9D84-4FB6-BB2F-F4A58785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91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需要围绕任务过程进行多轮互动，而不是一次性输出。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BBAD67-96DB-4AE3-8C49-DBD9C8ED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941F0B-CE0A-41E2-902F-80190CF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491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需要对学习状态进行观察与反馈，形成完整闭环。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EC26B5-6C4A-468C-863E-FB89F243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3848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12a56480f49a4"/>
          <a:stretch xmlns:a="http://schemas.openxmlformats.org/drawingml/2006/main"/>
        </p:blipFill>
        <p:spPr>
          <a:xfrm xmlns:a="http://schemas.openxmlformats.org/drawingml/2006/main">
            <a:off x="8443968" y="4400550"/>
            <a:ext cx="1857265" cy="1162050"/>
          </a:xfrm>
          <a:prstGeom xmlns:a="http://schemas.openxmlformats.org/drawingml/2006/main" prst="round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CA6B4A-A473-46A6-B42D-D5264CA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4178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E8842-0486-4410-897B-7732727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4D7F-5122-4932-B2F6-BEE6B45A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DC8DF-D5BD-47D5-A818-5CFD386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4048D-491E-49A2-B655-49DD736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B3614-DAA7-478B-8DFC-0E5DF061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B08FC-95C6-4C55-8EC2-BE919FE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F6BFF"/>
                </a:solidFill>
              </a:defRPr>
            </a:pPr>
            <a:r>
              <a:rPr sz="1200" b="1">
                <a:solidFill>
                  <a:srgbClr val="4F6B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584B7-6C88-42B1-BFDF-6AC9974F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03  项目定位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FB267-8165-4E1D-AD21-C0ED707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从聊天工具升级为面向复杂任务学习场景的 AI 学习工作台。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40E78-2A28-49D4-AD63-DB58DC0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4206B-5D2B-4865-B9D2-81517B7E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4F6B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C258C-5826-4E66-BCB9-03C4664A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D3D"/>
                </a:solidFill>
              </a:defRPr>
            </a:pPr>
            <a:r>
              <a:rPr sz="1800" b="1">
                <a:solidFill>
                  <a:srgbClr val="1F2D3D"/>
                </a:solidFill>
              </a:rPr>
              <a:t>知途是什么？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20388-1DD4-49BA-81AB-16C1122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BBA6A-D69F-4908-97AF-B9B6D35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AI 学习平台 / 比赛作品 / 可扩展产品原型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67AA3-D586-4C18-9F36-3D30A71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803B5-154A-411C-AD6F-3A0E11A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面向大学生、竞赛参与者、项目制学习者、自主学习者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89969-854D-4693-83B6-EBCEE066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62708-CD7B-4F01-8132-E7B0DD95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核心目标：从模糊目标出发，形成清晰路径并持续推进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9EDC3-0CC1-402B-989D-372809E3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E5606-3272-44E8-9FB9-EE78E6F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强调“工作流设计”而不是“单次对话输出”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6FA1-06FA-4EC2-B345-2781BE5E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38350"/>
            <a:ext cx="2647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E1517-3108-4389-923D-36CD17A4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40974-FA36-4A8A-A18F-5EC6E87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普通聊天式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CC7D9-19B1-4995-AAAB-4CC6FD10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更偏向回答单个问题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缺少连续任务组织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难以沉淀学习路径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A830E-66FC-404B-956E-E5A1CE74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2647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4BCF15-FDDC-4B5C-8278-CA71F6B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DDA9E-1678-47F0-8DBF-575324ED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知途 KnowPath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B9C98-3FE6-4AB8-9B9F-7D46D68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305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围绕任务推进设计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支持路径规划、对话学习、状态反馈</a:t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形成完整学习闭环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49F9C-4A45-4624-99A1-FCAF79A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55054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72451-6696-4B70-9AD6-8E54F7D7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</a:defRPr>
            </a:pPr>
            <a:r>
              <a:rPr sz="1050" b="1">
                <a:solidFill>
                  <a:srgbClr val="4F6BFF"/>
                </a:solidFill>
              </a:rPr>
              <a:t>项目定位语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5064B2-EB78-44FE-A5C9-8BBCF544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从模糊目标出发，帮助用户形成清晰路径，并在学习执行过程中持续获得 AI 陪练与状态反馈。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54C63-32E2-419E-B273-B685775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175371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EAD91-CE14-4317-8106-A2AEC23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8F42-3C19-43A6-83F9-F972A653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8BCF4-F654-4677-ACC4-59E8DFC1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15B00-6D51-4717-8F85-09B926A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E98E5-4A17-4958-ABCB-E8FEF42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B194F-A31C-43DB-AB20-C3FEB0E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C2A8"/>
                </a:solidFill>
              </a:defRPr>
            </a:pPr>
            <a:r>
              <a:rPr sz="1200" b="1">
                <a:solidFill>
                  <a:srgbClr val="00C2A8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9DD85-FFC9-4F73-84A0-8A9BCBEE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04  赛道契合度说明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F2ACF-910D-429C-84D3-D3D1E1D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知途具备真实问题导向、AI 驱动、完整落地与明确实践价值。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2DB04-25E1-4998-A76A-B124044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DDCC8-1E71-4A41-A4AA-34A831C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8A79B-DA55-4941-B55A-2D13A27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C2772-8AC7-450A-A9C3-FC45A79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真实问题导向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B8E7D-9BF2-4FE7-A29D-8C6C6CA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聚焦竞赛、课程项目、自主学习中“有目标却不会推进”的真实痛点。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B03D3-7E89-4A61-819B-EB8FF03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F6B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4ED2C-0C55-4F5B-9B02-25AE329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6BFF"/>
                </a:solidFill>
              </a:defRPr>
            </a:pPr>
            <a:r>
              <a:rPr sz="825" b="1">
                <a:solidFill>
                  <a:srgbClr val="4F6BFF"/>
                </a:solidFill>
              </a:rPr>
              <a:t>赛道契合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E714D-7AF6-4700-8224-CDEF39F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CCE8E-238A-4A03-B53D-1925A40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FD0D6-1D7F-429C-9136-E4B46617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人工智能驱动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C6E7E-7CA1-4401-A2A7-73F0CD8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目标澄清、路径生成、对话陪练、状态反馈等关键能力均由 AI 深度参与。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00D27-CD92-40A2-9A82-5E8DD2C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26B6A-EE00-4A3B-ACAB-79B5778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5CFF"/>
                </a:solidFill>
              </a:defRPr>
            </a:pPr>
            <a:r>
              <a:rPr sz="825" b="1">
                <a:solidFill>
                  <a:srgbClr val="7A5CFF"/>
                </a:solidFill>
              </a:rPr>
              <a:t>赛道契合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FBCF9-8F86-41B0-8A8C-D56B952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D851B-9361-4105-B941-CAABC67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CE44B-834C-4602-A1F9-977006F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应用落地完整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19B58-032F-46BA-8626-67DDCEDC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前后端、业务流程、管理后台、部署链路均已形成可运行原型。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B6CE4-8472-4154-852B-377BC25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C2A8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00767-618B-4506-AD0E-093EDB23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481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C2A8"/>
                </a:solidFill>
              </a:defRPr>
            </a:pPr>
            <a:r>
              <a:rPr sz="825" b="1">
                <a:solidFill>
                  <a:srgbClr val="00C2A8"/>
                </a:solidFill>
              </a:rPr>
              <a:t>赛道契合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3E7B92-B650-4256-B4C4-2AEB724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A5DDF0-5325-4D5D-B139-0E486C1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7E99F-E995-43BA-8A26-63CEF41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实践价值明确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3DDF1-5F07-4FD2-AE8F-DF1EA853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487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既服务个人学习，也可延展到教学辅助、训练营、项目制课程等场景。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78C805-7439-479E-A044-8405946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005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9F43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DACB87-2FC7-42D2-AF7C-B165E94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481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F43"/>
                </a:solidFill>
              </a:defRPr>
            </a:pPr>
            <a:r>
              <a:rPr sz="825" b="1">
                <a:solidFill>
                  <a:srgbClr val="FF9F43"/>
                </a:solidFill>
              </a:rPr>
              <a:t>赛道契合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9E8F38-1B93-43E3-AC60-7663FF0C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C2A8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BA2C5A-74C5-4CDF-AA31-21D9B17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81675"/>
            <a:ext cx="971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因此，知途不是概念型展示，而是面向教育场景的“人工智能应用实践型作品”。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89320-850E-40F7-B10F-857E48E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570236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72306-92E9-481A-8AA6-0A5BA7CD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C155A-4547-4512-97C8-17D6D13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F3EDE-DB5C-4691-82EA-269AF50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1BF47-FB53-4E8D-B2CC-266C2B7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709A5-050F-4E7B-BA18-A912139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474F8-19C6-4A0B-A64A-36F81EE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5CFF"/>
                </a:solidFill>
              </a:defRPr>
            </a:pPr>
            <a:r>
              <a:rPr sz="1200" b="1">
                <a:solidFill>
                  <a:srgbClr val="7A5C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6E7DC-4E17-4C5F-B2E5-682593D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05  核心理念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04B2D-D580-42AE-A028-77E4F2A2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让 AI 从“回答问题”升级为“组织学习”。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70752-3AAB-4AEB-A0D6-BC9214F5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BC0E2-081A-4D89-A5F3-7F9EFC2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064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CAB66-19BD-405D-A5D6-045F11C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0A41E-9E69-4659-B844-F5A73A1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0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01 先理解，再规划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A6D15-147B-46BC-AB83-137152DA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03060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通过多轮目标对话，先洞察真实目标、基础、时间与限制条件。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F344B-F9B2-43D3-93B6-EAF967BD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064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C7E23-D9C3-4C39-8A45-62F41E1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5CF52-EBDD-4190-8CA3-73C4009B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030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02 以任务推进为核心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9E963-3225-4E07-AAC7-3F5D48F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03060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围绕阶段成果和下一步行动组织学习，而不是堆叠知识点。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BC2DC-D8FE-4026-947A-31E45980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4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04E0B-875C-4EDB-AD1E-C5BDD292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AA6D7-3077-4283-A1EB-34992A76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030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03 以对话组织学习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CB4BD-E05A-4B73-BA8B-9ED15DB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03060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通过连续追问、反馈和提示，让学习者在推进中被引导。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AED2D-D4A0-44BE-B008-4524EA38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64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841DF-E503-4391-BB35-F39B0F50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3DC9B-CD80-4DD3-BFA4-ECF8EA4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30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04 过程可反馈，系统可扩展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3B8CF-9FA7-410B-B271-9C9B2633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1030605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既观察学习状态，也通过前后端分层与 Gateway 架构支持后续扩展。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55F1A-8510-427C-88EE-882BA46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424252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C5074-38D0-46EC-A3B9-D8AE3E5C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41993-E04F-435E-9967-70AC62D9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62BD8-D49B-402F-9FF0-CEE8832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6F9A9-71F3-4299-94BA-D5D8511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34F93-0005-44E8-92A6-504EB3F3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C912D-040E-4029-AA20-578335C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9F43"/>
                </a:solidFill>
              </a:defRPr>
            </a:pPr>
            <a:r>
              <a:rPr sz="1200" b="1">
                <a:solidFill>
                  <a:srgbClr val="FF9F43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E82DB-7062-4BF7-84B9-14AA9EC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06  应用场景与用户价值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89223-EB0E-49E5-BA3D-05F0EB2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项目既服务个人学习，也具备面向教学组织场景扩展的潜力。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C2CFF-79E1-4EF8-9C86-9D818757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E04C9-F9D6-45FD-9F14-07590A3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7244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DD3EE-B69C-46E0-AD85-8F1CEB56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典型应用场景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76B90-046B-4DCC-B7BF-F2B7A0B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5F5EA-AC0A-46BC-BAB0-BB0B3897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比赛项目拆解：课程设计、竞赛开发、论文实践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B3447-21BF-4A56-91FE-6E37EC9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91D98-8855-4B94-9B0D-1190DB22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自主学习规划：围绕技能提升、证书目标形成学习路径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7033E-A3CC-43BE-9634-16606C0A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DE509-161A-4848-BAFA-057FB36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跨学科任务推进：技术、产品、设计、表达同步推进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6A69E-D8E9-4530-B836-866FE49B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EE1E0-8982-4CE5-AE48-E4FBFEB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教学辅助与过程追踪：训练营、课程辅导、助教跟踪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64E34-874F-4694-8625-9617689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61150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44BE0-64AC-4AA9-9E7B-FB2CF649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用户价值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0D13D-34C9-44AA-8D76-DEA6D83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05100"/>
            <a:ext cx="2609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6768E-E584-44D4-99BD-3A35E3C6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ECE4A-3F38-4014-A4CD-B2D59600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6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从“想做什么”到“下一步做什么”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7AABE-1A9D-40EC-B405-FBE1BB14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帮助学习者明确行动，降低启动门槛。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76B73-3FF0-44B3-B6AF-A3684A30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609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8C321-17B5-4B45-9664-21F75CA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7B9DAF-DC84-4B38-A04E-1B15DFBF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从“模糊目标”到“清晰路径”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0EF4A-92BB-42ED-BA31-0F91D8C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1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通过 AI 路径规划形成阶段化学习结构。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239B61-21A1-4239-907E-F8CC172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609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51D535-A266-4E2B-9D90-AABC06EA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357D14-E7DF-46C1-96D2-06B9AD6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96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从“看资料”到“互动推进”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1E518-DC96-48EE-90EE-A05BCC7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对话学习和开放学习支持持续陪练。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C694B-70AC-4BEA-BB6F-37F71D8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609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7E4D4-05AB-4F30-BC5C-B3E28D4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672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45FBE0-2349-4653-98E6-109F91A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96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从“做完没”到“状态可视”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149487-A075-49B0-82BB-8E61BBC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155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学习状态与成长成就强化过程反馈。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9356D1-D989-4F60-BAA8-A33EE722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43234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1B82D-5E30-4921-B20A-DD09A52E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251A6-9967-47A4-AD54-9B5A4125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331E0-49D2-44DA-9BDA-30E81277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AB30D-64A0-4ABC-AF6E-68EE3EA1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966F2-960F-4512-9896-84C3699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1D101-CD48-4A69-9527-A53FC13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F6BFF"/>
                </a:solidFill>
              </a:defRPr>
            </a:pPr>
            <a:r>
              <a:rPr sz="1200" b="1">
                <a:solidFill>
                  <a:srgbClr val="4F6B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0D106-6B1A-4588-9BFA-AE9F886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07  整体解决方案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515CA-363E-438D-A673-E1A38ED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围绕目标澄清、路径生成、学习推进、状态反馈构建 AI 驱动闭环。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302C-E673-4B3A-8DFC-78387C9A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6297E-935B-437E-A5B8-689C02D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95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82F84-9B4A-4A3B-A2E8-8B451EC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01240-E6C5-4DD7-8F63-3A11F80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0CD8C-5FCA-427B-92D8-51656DAC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</a:defRPr>
            </a:pPr>
            <a:r>
              <a:rPr sz="1350" b="1">
                <a:solidFill>
                  <a:srgbClr val="1F2D3D"/>
                </a:solidFill>
              </a:rPr>
              <a:t>目标对话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D6ECA-A626-4D66-9C8E-48EB8CD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368"/>
                </a:solidFill>
              </a:defRPr>
            </a:pPr>
            <a:r>
              <a:rPr sz="975" b="0">
                <a:solidFill>
                  <a:srgbClr val="445368"/>
                </a:solidFill>
              </a:rPr>
              <a:t>通过多轮问答澄清用户真实目标、基础、时间和限制条件。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30AD0-4733-48E0-9F05-D28D5A9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50C09-6B54-45AB-99E9-BFAAE63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2495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EB021-E55A-4F99-AC3E-A1FBA55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A96BE-D242-4ACA-94C9-31B4B9D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0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0832D-E01C-467A-9A1A-665D614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52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</a:defRPr>
            </a:pPr>
            <a:r>
              <a:rPr sz="1350" b="1">
                <a:solidFill>
                  <a:srgbClr val="1F2D3D"/>
                </a:solidFill>
              </a:rPr>
              <a:t>学习路径生成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04AC3-B2CB-4129-ABC2-153C2BA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368"/>
                </a:solidFill>
              </a:defRPr>
            </a:pPr>
            <a:r>
              <a:rPr sz="975" b="0">
                <a:solidFill>
                  <a:srgbClr val="445368"/>
                </a:solidFill>
              </a:rPr>
              <a:t>把模糊目标转化为阶段计划、任务拆解与可执行路径。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4B6D3-82B9-47E2-8D93-96FD41C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EA5D7-3275-4DF6-A986-DA89911C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4955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FA6ED-33D0-4131-B66A-F7974F15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45628-DE8F-4B1D-BA2F-CE902AA9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1FFCF-BE3F-4C47-934A-1120779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</a:defRPr>
            </a:pPr>
            <a:r>
              <a:rPr sz="1350" b="1">
                <a:solidFill>
                  <a:srgbClr val="1F2D3D"/>
                </a:solidFill>
              </a:rPr>
              <a:t>对话学习 / 开放学习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59030-CE19-4E86-810C-A6AEBFFB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368"/>
                </a:solidFill>
              </a:defRPr>
            </a:pPr>
            <a:r>
              <a:rPr sz="975" b="0">
                <a:solidFill>
                  <a:srgbClr val="445368"/>
                </a:solidFill>
              </a:rPr>
              <a:t>围绕具体任务持续推进，获得追问、反馈、提示与陪练。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56926-7113-4E9B-8AD3-C7B2381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D8F08-8432-45E0-BEE1-2E1E292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9240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A0B30F-EBD0-4817-BC07-5720FE5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4A36A-6219-4039-91D9-B3CD4E8E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03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0232A-EA81-4951-84D6-DEB6DEAA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52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3D"/>
                </a:solidFill>
              </a:defRPr>
            </a:pPr>
            <a:r>
              <a:rPr sz="1350" b="1">
                <a:solidFill>
                  <a:srgbClr val="1F2D3D"/>
                </a:solidFill>
              </a:rPr>
              <a:t>状态反馈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B1FF43-A558-42D1-94C7-D6F34FC1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76550"/>
            <a:ext cx="104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368"/>
                </a:solidFill>
              </a:defRPr>
            </a:pPr>
            <a:r>
              <a:rPr sz="975" b="0">
                <a:solidFill>
                  <a:srgbClr val="445368"/>
                </a:solidFill>
              </a:rPr>
              <a:t>跟踪学习状态、成长成就与过程指标，帮助用户调整节奏。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401A8-D4FE-4921-A276-C6ED7709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1019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4F6B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59BAEE-86C4-430A-8652-8FAE5BC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知途的关键不是“生成一份计划”，而是把计划、任务、会话和状态反馈组织成一个持续推进的学习系统。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D8DB56-E818-492F-BADA-76DEC23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463746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B40B-CD31-4AB7-8C13-A197A72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DADBF-8483-45D2-A71F-7A12E3A0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1009B-4508-44BD-A4F8-532A06F4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03046-B5CB-4B14-9863-5C1A55F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69597-7EB9-44D5-A776-11B3970A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E196A-BE55-4FB0-BF50-A40E3DB9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C2A8"/>
                </a:solidFill>
              </a:defRPr>
            </a:pPr>
            <a:r>
              <a:rPr sz="1200" b="1">
                <a:solidFill>
                  <a:srgbClr val="00C2A8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6661A-0FE8-4CA6-8903-C3A83A5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08  核心业务闭环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E09AC-2E50-4E5C-BF13-9C2655E5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用户不是“问完即走”，而是持续留在一个学习工作流中。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93DF6-E194-4D53-83B6-F09562F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76A29-FBCD-42C2-A915-F337458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68D29-BC58-4E5A-9B43-54DAD692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EBF8E-443B-42C2-9451-D896006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EF66A-E7C5-4E81-BA6B-30040ADC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注册/登录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F7ABD-07F6-49BD-9F62-52BA4E1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56AC5-60C1-41F2-B3A5-7544DF32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4EB68-F9D2-4758-9E58-45B081F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C1F06-7739-4D41-AF72-EF59552C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93B32-1662-4B4F-82A8-0E56A8D2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学习总览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BBC6D-A5AD-48C8-B56A-4C20308C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550FE-6A0E-4541-9BA4-B1B4CF9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F276B-AF48-405E-B252-8D2A075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5E61C-83F7-498B-AB64-C092077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FCD54-7FCD-4D93-AFC5-CE41FFA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目标对话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77FF1-847F-40A0-86A9-F95B08C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895DB-1F59-48D9-AF22-441CA74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B18E1-B817-46F6-827C-2D8FA75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3D2CB-9C06-411B-97E2-A7A0116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F7F96-D9CC-4902-8651-915B8A7F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路径生成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9C038-57F5-46A0-8993-E8A06BE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F1E66-702A-4821-998F-1A25AA7E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BC932-5FAE-41B3-884B-702E8D3F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E1AD5-E9E3-488A-A78F-A57CBD34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CA268A-C60F-40C1-86F8-F33FE43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路径详情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FDA00-16C2-49FC-A6D7-3F90517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D0DC2-FEE0-4990-8396-E4E7C866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8E88D6-E2BD-4B14-8F29-AE3C3BDC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937429-3E41-42E5-BB51-A851133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9F51A9-D938-4659-B855-F95BD409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任务推进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A4AD87-1B70-43E1-8BCB-DB23B83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D67264-541C-46DC-87CC-BD7ED65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FC59B0-6D65-43C8-81EC-261880B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6B90DE-2F3A-4924-8FEF-582C7F5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458414-4EE8-4F62-BA31-9800910A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学习状态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7D766D-17A2-4A4D-9221-0CFD75D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861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5A432D-283C-4C8B-A254-767DF088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43200"/>
            <a:ext cx="1200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3AE77A-0139-422F-AEF8-F1B59DA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43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7405A5-FBF9-4B2C-AC0A-5C7CA93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003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81021E-D0D1-497F-AA39-2AD93C6F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670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成长成就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C26AE3-D3EB-42EA-939E-44E49E4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BE1857-7E42-420B-85AD-96A4D5F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B23716-FD2C-4056-A9FF-4D3637D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91050"/>
            <a:ext cx="872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前端主链路覆盖：学习总览、目标对话、学习路径、任务详情、对话学习、开放学习、学习状态、成长成就。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CF7F88-876B-4300-AF44-E9DE1C8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26B1D3-989F-4D5F-ABBF-09C52F2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29200"/>
            <a:ext cx="872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68"/>
                </a:solidFill>
              </a:defRPr>
            </a:pPr>
            <a:r>
              <a:rPr sz="1275" b="0">
                <a:solidFill>
                  <a:srgbClr val="445368"/>
                </a:solidFill>
              </a:rPr>
              <a:t>后端业务支撑：目标对话服务、学习路径服务、对话学习服务、学习状态服务、AI Teaching Orchestrator。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59ACC0-0354-407F-BF63-84B1B10F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523452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39AB9-37CA-4BFB-9E77-06AFB25B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51425-0CBB-4CED-9553-6BD3B87E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FBE0-B290-4749-A498-EC4F152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016F1-3D62-4FC4-AC38-B2E90EF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B99A9-4B9F-4938-ABB2-6DCBE9D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A9044-456D-49BD-9668-ED891BF4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5CFF"/>
                </a:solidFill>
              </a:defRPr>
            </a:pPr>
            <a:r>
              <a:rPr sz="1200" b="1">
                <a:solidFill>
                  <a:srgbClr val="7A5C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4F018-E16C-40F5-8A31-5F4D0EB1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09  用户端核心功能展示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DE166-1B4E-4A87-9A13-9C929AE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通过核心页面串起“目标澄清—路径执行—学习反馈”的用户主链路。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B6426-8D80-4A6F-8B9B-93C644B7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EBAEB-CB40-4D13-A82B-EF061ED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d45ff5f764671"/>
          <a:stretch xmlns:a="http://schemas.openxmlformats.org/drawingml/2006/main"/>
        </p:blipFill>
        <p:spPr>
          <a:xfrm xmlns:a="http://schemas.openxmlformats.org/drawingml/2006/main">
            <a:off x="790272" y="1981200"/>
            <a:ext cx="2953356" cy="1847850"/>
          </a:xfrm>
          <a:prstGeom xmlns:a="http://schemas.openxmlformats.org/drawingml/2006/main" prst="round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12ABE-0837-4309-88E6-62020CBE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9aee5363c4084"/>
          <a:stretch xmlns:a="http://schemas.openxmlformats.org/drawingml/2006/main"/>
        </p:blipFill>
        <p:spPr>
          <a:xfrm xmlns:a="http://schemas.openxmlformats.org/drawingml/2006/main">
            <a:off x="4719942" y="1981200"/>
            <a:ext cx="2333016" cy="18478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578DD-1BA9-4E3D-8822-8940810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a93c143124e98"/>
          <a:stretch xmlns:a="http://schemas.openxmlformats.org/drawingml/2006/main"/>
        </p:blipFill>
        <p:spPr>
          <a:xfrm xmlns:a="http://schemas.openxmlformats.org/drawingml/2006/main">
            <a:off x="8416898" y="1981200"/>
            <a:ext cx="2178104" cy="1847850"/>
          </a:xfrm>
          <a:prstGeom xmlns:a="http://schemas.openxmlformats.org/drawingml/2006/main" prst="round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232CC-725C-4214-A6AD-0B817EE8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38c2a68d948da"/>
          <a:stretch xmlns:a="http://schemas.openxmlformats.org/drawingml/2006/main"/>
        </p:blipFill>
        <p:spPr>
          <a:xfrm xmlns:a="http://schemas.openxmlformats.org/drawingml/2006/main">
            <a:off x="2717842" y="4210050"/>
            <a:ext cx="2717716" cy="18478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7926E-63AA-4DFE-BC81-5CE7C45C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74bb12564495d"/>
          <a:stretch xmlns:a="http://schemas.openxmlformats.org/drawingml/2006/main"/>
        </p:blipFill>
        <p:spPr>
          <a:xfrm xmlns:a="http://schemas.openxmlformats.org/drawingml/2006/main">
            <a:off x="7214368" y="4210050"/>
            <a:ext cx="963664" cy="1847850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57D3A-5DA3-40A8-A3DA-E61F9577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752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70A02-8A75-430F-AC98-23826F6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D3D"/>
                </a:solidFill>
              </a:defRPr>
            </a:pPr>
            <a:r>
              <a:rPr sz="825" b="1">
                <a:solidFill>
                  <a:srgbClr val="1F2D3D"/>
                </a:solidFill>
              </a:rPr>
              <a:t>首页 / 学习总览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A0EF1-2CCC-4195-B528-1A45A300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752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20FB9-0438-40C7-946F-3976433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D3D"/>
                </a:solidFill>
              </a:defRPr>
            </a:pPr>
            <a:r>
              <a:rPr sz="825" b="1">
                <a:solidFill>
                  <a:srgbClr val="1F2D3D"/>
                </a:solidFill>
              </a:rPr>
              <a:t>学习路径页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B5555-F69A-4EB9-A5B3-C4C89C6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1752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91E06-1986-4667-AA16-F772494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D3D"/>
                </a:solidFill>
              </a:defRPr>
            </a:pPr>
            <a:r>
              <a:rPr sz="825" b="1">
                <a:solidFill>
                  <a:srgbClr val="1F2D3D"/>
                </a:solidFill>
              </a:rPr>
              <a:t>对话学习页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56CB4-DD6E-4A3C-826F-8B70C4E4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1752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B04EC-4207-4D2B-AB38-D3155A0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674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D3D"/>
                </a:solidFill>
              </a:defRPr>
            </a:pPr>
            <a:r>
              <a:rPr sz="825" b="1">
                <a:solidFill>
                  <a:srgbClr val="1F2D3D"/>
                </a:solidFill>
              </a:rPr>
              <a:t>学习状态页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7171E-F3FB-4AE9-8747-C23F0AE8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1752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BFB99-F9C6-4E1B-BFB9-717F307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674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D3D"/>
                </a:solidFill>
              </a:defRPr>
            </a:pPr>
            <a:r>
              <a:rPr sz="825" b="1">
                <a:solidFill>
                  <a:srgbClr val="1F2D3D"/>
                </a:solidFill>
              </a:rPr>
              <a:t>课程评价页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4FBA84-163B-436D-9201-8C2C74F2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326026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9D941-6A2A-4647-8B67-DDBC7E7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D8D84-FF97-468E-B3B5-0227526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3EDDB-63F3-4FCB-B8B3-87DF913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F2E9E-1BBF-47F0-812D-E6E5EA6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4858-B9FC-4E3F-BF95-20FF6A4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142A2-B604-4B90-B3BF-E09A565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9F43"/>
                </a:solidFill>
              </a:defRPr>
            </a:pPr>
            <a:r>
              <a:rPr sz="1200" b="1">
                <a:solidFill>
                  <a:srgbClr val="FF9F43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CEC3E-0241-4BA6-8BBC-BC31DA4E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10  管理端与平台观测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F944A-5368-4180-9842-47F4CC63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项目不仅有用户端，也考虑了平台治理、运维观察与持续迭代能力。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09919-5404-4FE1-8F5A-1851C3B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485D6-A243-4BA6-B967-D9A1AB4B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048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b0aa767ea4c98"/>
          <a:stretch xmlns:a="http://schemas.openxmlformats.org/drawingml/2006/main"/>
        </p:blipFill>
        <p:spPr>
          <a:xfrm xmlns:a="http://schemas.openxmlformats.org/drawingml/2006/main">
            <a:off x="975249" y="2076450"/>
            <a:ext cx="4202653" cy="2857500"/>
          </a:xfrm>
          <a:prstGeom xmlns:a="http://schemas.openxmlformats.org/drawingml/2006/main" prst="round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40592-E601-43BE-89CD-C27E8F4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241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AB3E2-D719-4918-B0F4-67AFA943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0E897-3CA9-42D9-A115-60F894F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平台概览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01E50-6E1F-4578-A7FE-0A3EA44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面向管理员展示平台运行状态、统计信息与活动概览。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7D77-6F1A-43AD-A95E-1A88038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7241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7AC18-E6AB-47A6-AAED-183F5A50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79852-65A4-4BF6-A38E-60E12A5F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用户管理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75359-8054-408F-8BF7-EF9EB3C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支持用户管理与身份体系维护，为后续运营提供基础。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71223-9E72-41E0-BBE7-216A5CAF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27241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4CD77-2026-44D6-A864-2F44954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A67C2-2C1A-4401-A4B1-37CDFF6E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接口配置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0358A-C212-4604-A47C-C3AAEF8D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支持模型接口配置、调用能力治理与环境维护。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795FB-9C9A-4A1F-9C22-D4AE1532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7241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E9921-78FF-43B4-87B2-BC24106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4BA86-F622-4266-A339-040EF7F2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执行日志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63048-4D1C-4F17-B513-D76E843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保留平台运行过程信息，便于排查与持续优化。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6CD42-E217-45E2-9A3E-10F1899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B9BEC-8014-48D3-8EB2-B316D689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32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后台能力的存在，说明知途不是单一页面展示，而是具备“可观测、可维护、可迭代”的平台化工程原型。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65EFC5-273F-42A9-B5DE-777977A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741463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E3D2F-CA12-4FF0-B868-373A883B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9636E-D1B3-40AD-AA8B-8D233C15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C209B-B7EC-4494-B596-815050C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013E1-4853-4F81-80D9-980D03EA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8937A-83B2-4DAC-A882-ABD9BB9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6D1F-EA51-4F7A-8970-C50F8372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F6BFF"/>
                </a:solidFill>
              </a:defRPr>
            </a:pPr>
            <a:r>
              <a:rPr sz="1200" b="1">
                <a:solidFill>
                  <a:srgbClr val="4F6B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3C6F-9136-4262-A8A6-F96683B5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11  项目创新点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74EC4-4214-452B-BCA3-661FADE1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AI 不止生成内容，更组织学习过程。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0958F-6458-48DD-B82D-61C93029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21998-A198-47AF-843E-3430A565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476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2F62D-2378-42CF-8F91-92C9690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0DF67-62B1-49D4-AAC7-DD1A67D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创新点一：目标澄清前置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F9DC9-6764-4C02-96E3-24CC645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不同于直接输出模板化计划，系统先通过多轮对话理解真实目标。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11EA9-3D19-4130-AE04-AE9DD3D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F6B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381C7-6527-458C-A9D6-D426D27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6BFF"/>
                </a:solidFill>
              </a:defRPr>
            </a:pPr>
            <a:r>
              <a:rPr sz="825" b="1">
                <a:solidFill>
                  <a:srgbClr val="4F6BFF"/>
                </a:solidFill>
              </a:rPr>
              <a:t>差异化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DA47D-9B7E-4C8B-8BA7-DB25BF9B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2476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BDE93-FABD-4F75-B2F2-762D792B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C2F1B-96DB-49FA-BDA8-F7EBCAE4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6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创新点二：路径—任务—会话联动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64973-D00C-4DE4-8075-57B7E59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学习路径、任务拆解、对话学习连续衔接，形成推进闭环。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7557B-A31D-47F3-B3D8-38342A4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3B11C-7677-4104-884F-23A8327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5CFF"/>
                </a:solidFill>
              </a:defRPr>
            </a:pPr>
            <a:r>
              <a:rPr sz="825" b="1">
                <a:solidFill>
                  <a:srgbClr val="7A5CFF"/>
                </a:solidFill>
              </a:rPr>
              <a:t>闭环化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DDC16-851A-41E3-BC84-F5390E2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476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E5844-92C5-47E4-890B-D1A7300D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DCDA0-FE3B-4AD8-97D2-6DE573D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创新点三：学习状态可反馈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6C333-2AAA-4A3B-B00D-3683E7B3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关注学习节奏、理解程度、迁移与负荷，让过程可观测。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76A73-ACCD-4594-8C73-3AA83E0E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C2A8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527DF-3235-4684-8074-A1BD428D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C2A8"/>
                </a:solidFill>
              </a:defRPr>
            </a:pPr>
            <a:r>
              <a:rPr sz="825" b="1">
                <a:solidFill>
                  <a:srgbClr val="00C2A8"/>
                </a:solidFill>
              </a:rPr>
              <a:t>过程化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A4495-F0F2-4781-B5ED-8F1D1AE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24765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E6357-3CB5-4235-A7F0-DF4C97E7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802704-ECD0-47F1-90E7-989BC89F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8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创新点四：工程化 AI 平台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261B1-2933-4BAC-BDF7-2B66563C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前后端、数据层、Gateway、Agent 模块一体联动，可持续扩展。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91A468-3CD7-4913-8EF5-487856A7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0980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9F43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E3FF9D-EA97-40CF-AA9E-AB85F3B8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5742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9F43"/>
                </a:solidFill>
              </a:defRPr>
            </a:pPr>
            <a:r>
              <a:rPr sz="825" b="1">
                <a:solidFill>
                  <a:srgbClr val="FF9F43"/>
                </a:solidFill>
              </a:rPr>
              <a:t>平台化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20CAD-6003-49F7-9350-B1462FE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97917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4F6B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316EC2-457B-4E70-871C-462E5E6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9067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10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D3D"/>
                </a:solidFill>
              </a:defRPr>
            </a:pPr>
            <a:r>
              <a:rPr sz="1575" b="1">
                <a:solidFill>
                  <a:srgbClr val="1F2D3D"/>
                </a:solidFill>
              </a:rPr>
              <a:t>相比普通聊天式 AI，知途更强调“先理解目标—再组织路径—再推动执行—再反馈状态”的完整学习工作流。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E051E6-21C1-4EA7-932A-EC34F39A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881878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51AD7-2DAC-4D81-BCF6-650962EF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A0CCC-11FA-4A1D-93A9-B22848F1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A3084-94F5-42D7-B6E5-57D5052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29DA9-6A5E-4C15-8EE0-2FBD30C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EEB9-53AC-4F35-B61E-156C5C61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38E0-1A94-4A6D-BB53-7BDD07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C2A8"/>
                </a:solidFill>
              </a:defRPr>
            </a:pPr>
            <a:r>
              <a:rPr sz="1200" b="1">
                <a:solidFill>
                  <a:srgbClr val="00C2A8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22F90-342A-4359-A25D-5F9A2DD4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12  技术架构设计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188B9-0483-4A08-81F5-ACF87E2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前后端分离 + AI Gateway 编排，支撑完整业务闭环与后续能力扩展。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9FAD5-6E59-47F6-A61E-77E365C1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C3A8C-74C9-45A2-AFD2-CE81CBD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1F405-E3F8-4976-B658-CB9FBCB1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6BFF"/>
                </a:solidFill>
              </a:defRPr>
            </a:pPr>
            <a:r>
              <a:rPr sz="1650" b="1">
                <a:solidFill>
                  <a:srgbClr val="4F6BFF"/>
                </a:solidFill>
              </a:rPr>
              <a:t>用户浏览器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21B71-788E-4B74-8D1C-AF86D2F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学习者 / 管理员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1C2CA-F9B0-45D8-B640-7ED7C92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35935-AFDA-40DC-84D0-313F451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5CFF"/>
                </a:solidFill>
              </a:defRPr>
            </a:pPr>
            <a:r>
              <a:rPr sz="1650" b="1">
                <a:solidFill>
                  <a:srgbClr val="7A5CFF"/>
                </a:solidFill>
              </a:rPr>
              <a:t>Vue 前端应用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560FA-6B2E-4F8A-9F9D-6D7F8C72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页面、路由、状态管理、设计系统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5ABFD-88FE-48F2-A756-510BF2B4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EA925-4F1C-4AB2-8B97-643344F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C2A8"/>
                </a:solidFill>
              </a:defRPr>
            </a:pPr>
            <a:r>
              <a:rPr sz="1650" b="1">
                <a:solidFill>
                  <a:srgbClr val="00C2A8"/>
                </a:solidFill>
              </a:rPr>
              <a:t>Express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3A6AB-02A7-47A0-8D82-9A72B1A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鉴权、学习路径、目标对话、状态跟踪等路由服务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AFC21-6160-4CD2-B1B7-B2CE443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000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7503B-526F-4A63-81EC-5840A05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43"/>
                </a:solidFill>
              </a:defRPr>
            </a:pPr>
            <a:r>
              <a:rPr sz="1650" b="1">
                <a:solidFill>
                  <a:srgbClr val="FF9F43"/>
                </a:solidFill>
              </a:rPr>
              <a:t>Prisma + 数据库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F820A-6EFE-4463-BC9F-90C7D65B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SQLite 开发环境 / PostgreSQL 扩展能力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D97F9-66DD-4C54-A41C-D36A1070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362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B595A-F9FE-43CE-9F04-CCE4ECF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0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6BFF"/>
                </a:solidFill>
              </a:defRPr>
            </a:pPr>
            <a:r>
              <a:rPr sz="1800" b="1">
                <a:solidFill>
                  <a:srgbClr val="4F6BFF"/>
                </a:solidFill>
              </a:rPr>
              <a:t>EduClaw 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6FA34-A97D-4696-A4B4-9ECD3D7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368"/>
                </a:solidFill>
              </a:defRPr>
            </a:pPr>
            <a:r>
              <a:rPr sz="1125" b="0">
                <a:solidFill>
                  <a:srgbClr val="445368"/>
                </a:solidFill>
              </a:rPr>
              <a:t>统一接入模型、Agent、Skill、Plugin，作为 AI 能力编排入口。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C4A2A-1D0B-400F-B040-A7FFF0E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1314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F6B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845D9-89AC-4653-A14F-1BE8899E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1314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7A5C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DDA4B6-7C02-4709-9500-C60246CB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29100"/>
            <a:ext cx="1314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C2A8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02A92-CF43-4299-A7D5-8122C3E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6BFF"/>
                </a:solidFill>
              </a:defRPr>
            </a:pPr>
            <a:r>
              <a:rPr sz="1500" b="1">
                <a:solidFill>
                  <a:srgbClr val="4F6BFF"/>
                </a:solidFill>
              </a:rPr>
              <a:t>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5F4C5-E246-4035-858B-D875DAD1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5CFF"/>
                </a:solidFill>
              </a:defRPr>
            </a:pPr>
            <a:r>
              <a:rPr sz="1500" b="1">
                <a:solidFill>
                  <a:srgbClr val="7A5CFF"/>
                </a:solidFill>
              </a:rPr>
              <a:t>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A8E5F-668E-40D9-93DF-C2F4D75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33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C2A8"/>
                </a:solidFill>
              </a:defRPr>
            </a:pPr>
            <a:r>
              <a:rPr sz="1350" b="1">
                <a:solidFill>
                  <a:srgbClr val="00C2A8"/>
                </a:solidFill>
              </a:rPr>
              <a:t>Skill/Plugin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D0A860-60C2-4EF6-A6FB-0ACA6D72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CEF676-16CF-47AF-A72C-296B0F5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2F0386-EC72-471B-92B1-28065AC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297250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F46F7-8115-4A31-AA21-7AB9A35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6597F-CB47-426C-A399-49BE3B0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81D28-1ACD-49AF-B7FD-C1D9560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754C8-36B2-4B19-ABAB-C7A01475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636C5-0B67-410C-B305-8887BA6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99E4C-A5CE-4861-87BE-E461438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5CFF"/>
                </a:solidFill>
              </a:defRPr>
            </a:pPr>
            <a:r>
              <a:rPr sz="1200" b="1">
                <a:solidFill>
                  <a:srgbClr val="7A5C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0145-C01B-43B7-9C1E-B70AA20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13  关键实现与工程落地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09C89-CC91-43AE-B04A-ED52457C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从前端体验、后端服务到数据模型，形成完整工程落地链路。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C17E-0099-430D-8553-2049F3FD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A8A9F-7D94-4DA9-BA40-29122717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909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9C9CD-C6A7-44C1-8795-7C09B62C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FCE3C-EB80-42B6-A639-CE51B56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前端实现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80B6A-BA04-47BE-B8AD-B306B48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Vue 3 + TypeScript + Vite + Pinia + Vue Router + Element Plus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建立统一 aa 设计系统与全局样式 token，支撑沉浸式学习工作流。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D9B7D-6D85-4652-8534-59C468BB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F6B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4080A-4B5A-43A3-A9A4-FA4359F8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F6BFF"/>
                </a:solidFill>
              </a:defRPr>
            </a:pPr>
            <a:r>
              <a:rPr sz="825" b="1">
                <a:solidFill>
                  <a:srgbClr val="4F6BFF"/>
                </a:solidFill>
              </a:rPr>
              <a:t>体验层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B814F-5C90-461B-B1BD-A0F3BFDF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909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8A65F-B662-47FE-923A-45CDABF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1546E-46B3-4249-BCC9-B45919F2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后端实现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31193-4A3C-403D-AA3B-010F7B4C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Node.js + Express + TypeScript + Prisma + JWT + bcrypt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围绕目标对话、学习路径、对话学习、学习状态等服务模块分层组织。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2EED2-FBB5-42A0-857F-F25D148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9B3BC-E665-4BD8-AB7A-D2845BD9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145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5CFF"/>
                </a:solidFill>
              </a:defRPr>
            </a:pPr>
            <a:r>
              <a:rPr sz="825" b="1">
                <a:solidFill>
                  <a:srgbClr val="7A5CFF"/>
                </a:solidFill>
              </a:rPr>
              <a:t>服务层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EB2C1-2D6D-4D82-9E12-EBFB834F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3909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5B6DD-E0AE-4ED2-BEBF-FBE5CFEA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B5B83-DCFC-47D2-9835-67CBE62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数据与能力支撑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CB886-C1D6-4655-A56A-4E5763D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3048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核心实体包括用户、学习目标、学习路径、任务、学习会话、学习状态、成就记录与智能体调用日志。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28339-4DD0-41F3-96CE-021259B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669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C2A8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B4FECD-1096-465B-9622-2AF8F2B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145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C2A8"/>
                </a:solidFill>
              </a:defRPr>
            </a:pPr>
            <a:r>
              <a:rPr sz="825" b="1">
                <a:solidFill>
                  <a:srgbClr val="00C2A8"/>
                </a:solidFill>
              </a:rPr>
              <a:t>数据层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80260-9678-4E1E-9325-5E6D256A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58274-DCB7-431C-8F1B-9535187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76925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85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D3D"/>
                </a:solidFill>
              </a:defRPr>
            </a:pPr>
            <a:r>
              <a:rPr sz="1425" b="1">
                <a:solidFill>
                  <a:srgbClr val="1F2D3D"/>
                </a:solidFill>
              </a:rPr>
              <a:t>这说明项目并非概念 Demo，而是具备前后端、数据库、AI 能力接入与业务流程联动的实践型工程原型。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962FD-B58B-4F41-A246-A68A968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58481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731F1-A887-4BF3-A9AC-C4EF2E02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2FF49-16DB-43A2-8022-BF87952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ECB35-3C60-4618-BFB2-5728240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82F76-71B0-49E7-B77E-6C7DE03C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9873A-7D54-43F4-ACBF-F744899E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B729D-B982-4E4A-A287-62F687D8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9F43"/>
                </a:solidFill>
              </a:defRPr>
            </a:pPr>
            <a:r>
              <a:rPr sz="1200" b="1">
                <a:solidFill>
                  <a:srgbClr val="FF9F43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C932-10D4-4A99-9800-F3CB1800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14  项目完成度与验证情况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4E543-C86F-4DA1-9D60-4D18D455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作品当前已具备可运行、可演示、可扩展的原型能力。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7BE00-462A-41B9-9050-2B84B57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35414-B090-42D5-B05E-B25909E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2FB7-D036-43CD-A0A1-877795E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C1AC6-BAF7-42E2-AF7B-C8444A9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完整工程结构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E427B-C3AC-4E77-A0A3-6959ED63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前后端分离架构已建立，代码、文档与部署结构完整。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8C3DA-9370-4CB0-B3B5-52596AE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29B11-FE94-42A1-868C-C9D7777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A6BD9-10D4-4822-A374-FD159834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主链路已落地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47F78-519A-4968-93FE-8737003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用户主链路与后台主链路已具备基本可交互性。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12A05-14DD-41F0-B2FB-30AF2640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1EB88-B0A5-4ECC-B028-F691052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F997C-7B79-411C-A6F0-299D24B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关键问题已修复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23C6D-FEF5-4CC9-B861-944991CE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对话学习 taskId/pathId 参数链路缺失问题已修复。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3EC63-3144-4E27-B56D-4C872AFC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571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F9ED4-3C22-4EE6-8455-3D44EEC4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71700"/>
            <a:ext cx="4953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06BE2-A321-4246-9077-27BB7FCF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3D"/>
                </a:solidFill>
              </a:defRPr>
            </a:pPr>
            <a:r>
              <a:rPr sz="1500" b="1">
                <a:solidFill>
                  <a:srgbClr val="1F2D3D"/>
                </a:solidFill>
              </a:rPr>
              <a:t>基础验证通过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2A32C-7B62-411B-8990-16C1145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前端最近一次 npm run build 已通过。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8A273-AA4C-4524-959E-C5C06E6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4476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7426d9baf4730"/>
          <a:stretch xmlns:a="http://schemas.openxmlformats.org/drawingml/2006/main"/>
        </p:blipFill>
        <p:spPr>
          <a:xfrm xmlns:a="http://schemas.openxmlformats.org/drawingml/2006/main">
            <a:off x="1695273" y="3771900"/>
            <a:ext cx="3334105" cy="226695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A8B66-ABCB-4559-8D0C-3D05681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476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54573b26a4337"/>
          <a:stretch xmlns:a="http://schemas.openxmlformats.org/drawingml/2006/main"/>
        </p:blipFill>
        <p:spPr>
          <a:xfrm xmlns:a="http://schemas.openxmlformats.org/drawingml/2006/main">
            <a:off x="8257612" y="3771900"/>
            <a:ext cx="1182227" cy="2266950"/>
          </a:xfrm>
          <a:prstGeom xmlns:a="http://schemas.openxmlformats.org/drawingml/2006/main" prst="round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BDE87-82E3-4939-85F2-1CCEF4E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7580796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12953-FFE2-4228-BC6A-376BC58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C6D88-380E-4E44-8EFC-CD2A8EC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280D1-054D-472F-BD88-1D7CCCF0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D8A7F-AAFA-4C2F-BB6B-3FB21A6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944A5-BC4E-42A1-90EF-8C3B990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976DD-259E-4567-9785-8E6FE66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F6BFF"/>
                </a:solidFill>
              </a:defRPr>
            </a:pPr>
            <a:r>
              <a:rPr sz="1200" b="1">
                <a:solidFill>
                  <a:srgbClr val="4F6B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999D-2416-443E-AA07-F1522A2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D3D"/>
                </a:solidFill>
              </a:defRPr>
            </a:pPr>
            <a:r>
              <a:rPr sz="2100" b="1">
                <a:solidFill>
                  <a:srgbClr val="1F2D3D"/>
                </a:solidFill>
              </a:rPr>
              <a:t>15  项目优势对比与应用前景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37509-1DCB-43F1-B90E-EF89B06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既有清晰差异化，也具备面向教育实践场景的推广潜力。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78140-CAAB-4DCE-9E58-6D8CCB4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287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390A4-547A-41B1-BC37-0CD6214D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6858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C2BBD-32AB-4C1D-90AE-D28DF7A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差异化对比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65DFC-5809-4245-AA46-8DC8E28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9D78A-D7EB-4370-AC12-9DB0C50B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9850"/>
            <a:ext cx="2038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2A8CB-3F0E-41DC-9093-AA8EC93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F6D7E-9B37-4CFF-8140-AD5A574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维度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C934D-CC7F-4C71-AF1C-4175B43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43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9F43"/>
                </a:solidFill>
              </a:defRPr>
            </a:pPr>
            <a:r>
              <a:rPr sz="1200" b="1">
                <a:solidFill>
                  <a:srgbClr val="FF9F43"/>
                </a:solidFill>
              </a:rPr>
              <a:t>普通聊天式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9391E-4B8C-4220-AE7D-4549776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C2A8"/>
                </a:solidFill>
              </a:defRPr>
            </a:pPr>
            <a:r>
              <a:rPr sz="1200" b="1">
                <a:solidFill>
                  <a:srgbClr val="00C2A8"/>
                </a:solidFill>
              </a:rPr>
              <a:t>知途 KnowPath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D4787-9EAC-4F07-AF4E-59DF51C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CDCA9-5350-4A2E-9A44-DC0718E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4B06F-2479-4665-AE19-6162F54B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AC0CA-EEE1-44CF-9982-4F75D21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目标理解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41509-6AFA-4733-975A-2D3056C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6707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单轮提问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A2358-7E27-484B-8F67-9E957C6A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670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多轮目标澄清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0A222-B2D4-4B67-B9E3-63371EB9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EF5A5-B62B-4CAA-B56C-13528D08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7665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8AD8E-E106-4B7D-B425-11BAEB3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99EB8-E803-4D2B-A950-33518A70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输出形式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15032-4139-4B16-B02A-A287FAC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8142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单次回答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31401-72EE-4FEE-994A-DAF79D5C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阶段化学习路径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F6EC0-92CB-4E51-BB63-BA1E283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45072-25EF-438A-8008-317D38A7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9100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BDE61-D131-4DD8-827E-195A2183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14AFA-57EF-445E-B3EA-11B25B69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957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任务推进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DEA4A-A8E9-4AD3-B451-289D8DF3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9577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用户自行组织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1C925A-320B-4AA1-8ED3-B8B5CB86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系统引导推进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3618D1-F937-421D-935A-E4558380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1B95FB-2C8B-4D16-851A-FABAD33D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3E8CDD-1F16-4841-AA35-728C31CA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8E2514-882C-48FE-B20D-7430CA7E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学习反馈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6571DD-0330-4AC5-B84C-AE94EFF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012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结果导向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215184-B346-4631-A457-C97C6B2E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101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过程可观测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DB4ADE-C30B-492E-9495-A7C121AF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169E3D-E17F-4FA7-94D4-510CC82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FA9594-F132-44A7-B180-0C15C24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FB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030603-FD02-4EAD-B453-0DAE964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系统形态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EEBAE4-4F30-4A97-862B-02BDC91D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24475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45368"/>
                </a:solidFill>
              </a:defRPr>
            </a:pPr>
            <a:r>
              <a:rPr sz="1050" b="0">
                <a:solidFill>
                  <a:srgbClr val="445368"/>
                </a:solidFill>
              </a:rPr>
              <a:t>单点工具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E0ECCC-F5E9-4A31-9E24-D3C4A4A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244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D3D"/>
                </a:solidFill>
              </a:defRPr>
            </a:pPr>
            <a:r>
              <a:rPr sz="1050" b="1">
                <a:solidFill>
                  <a:srgbClr val="1F2D3D"/>
                </a:solidFill>
              </a:rPr>
              <a:t>平台化原型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6090E3-D44E-4B26-9E98-64F2935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43100"/>
            <a:ext cx="3733800" cy="39624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C5B8C4-F46C-4ADE-9720-7206BEE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81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D3D"/>
                </a:solidFill>
              </a:defRPr>
            </a:pPr>
            <a:r>
              <a:rPr sz="1650" b="1">
                <a:solidFill>
                  <a:srgbClr val="1F2D3D"/>
                </a:solidFill>
              </a:rPr>
              <a:t>应用前景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152116-3A7D-41E1-BBA9-D670F25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57E64A-75E1-4542-8176-599A48A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校内课程项目与创新训练场景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2F5197-8222-4ED5-B46D-EABD6508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AD43C7-E489-4298-958A-FEC15C1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竞赛备赛与项目制学习场景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DBEA3A-647B-4F90-BB23-4A736CF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CE2550-A506-40DA-A201-583F5F9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81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教学辅助与训练营过程跟踪场景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501C47-123F-41E5-9AD9-CC1501C2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B1B08A-0506-45C1-9081-20B2E3C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368"/>
                </a:solidFill>
              </a:defRPr>
            </a:pPr>
            <a:r>
              <a:rPr sz="1200" b="0">
                <a:solidFill>
                  <a:srgbClr val="445368"/>
                </a:solidFill>
              </a:rPr>
              <a:t>后续可拓展多智能体协同教学能力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DC3FD7-A83C-4AB0-89F9-A7B449AF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4922669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B6132-6946-411E-8AA3-7BB5E46BD5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6B6DC-F815-407A-B271-0888649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857250"/>
            <a:ext cx="4095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F0670-879A-4FEE-A680-BF7018A7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05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508B0-1B71-4B19-87CD-78F9DA05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1435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E50B3-CB88-4D5F-9004-5C389F5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"/>
            <a:ext cx="11658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25C41-56FD-4BE3-8AA1-13C299E8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197"/>
                </a:solidFill>
              </a:defRPr>
            </a:pPr>
            <a:r>
              <a:rPr sz="1050" b="0">
                <a:solidFill>
                  <a:srgbClr val="728197"/>
                </a:solidFill>
              </a:rPr>
              <a:t>大学生计算机设计大赛 · 人工智能应用——实践赛道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5646E-8BBC-494F-BA46-1716CEE8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5CFF"/>
                </a:solidFill>
              </a:defRPr>
            </a:pPr>
            <a:r>
              <a:rPr sz="1200" b="1">
                <a:solidFill>
                  <a:srgbClr val="7A5CFF"/>
                </a:solidFill>
              </a:rPr>
              <a:t>知途 KnowPath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2E602-B660-45A4-BE78-CA5B895D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47800"/>
            <a:ext cx="94488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47F95-2E80-4BE4-8C70-F42455F3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2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5CFF"/>
                </a:solidFill>
              </a:defRPr>
            </a:pPr>
            <a:r>
              <a:rPr sz="2100" b="1">
                <a:solidFill>
                  <a:srgbClr val="7A5CFF"/>
                </a:solidFill>
              </a:rPr>
              <a:t>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1735A-C18B-4B61-9A5B-16960E9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431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2D3D"/>
                </a:solidFill>
              </a:defRPr>
            </a:pPr>
            <a:r>
              <a:rPr sz="2250" b="1">
                <a:solidFill>
                  <a:srgbClr val="1F2D3D"/>
                </a:solidFill>
              </a:rPr>
              <a:t>让 AI 真正帮助学习者持续推进复杂任务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82CDC-89E3-467C-B649-6C25338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0E38A-CC10-42FA-8F9C-F804492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5368"/>
                </a:solidFill>
              </a:defRPr>
            </a:pPr>
            <a:r>
              <a:rPr sz="1500" b="0">
                <a:solidFill>
                  <a:srgbClr val="445368"/>
                </a:solidFill>
              </a:rPr>
              <a:t>知途聚焦真实学习痛点，面向复杂任务学习场景。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1EB84-C04E-40D2-B884-12156CD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7CD71-AE9C-40CB-A766-31770CF9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100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5368"/>
                </a:solidFill>
              </a:defRPr>
            </a:pPr>
            <a:r>
              <a:rPr sz="1500" b="0">
                <a:solidFill>
                  <a:srgbClr val="445368"/>
                </a:solidFill>
              </a:rPr>
              <a:t>项目构建了“目标澄清 → 路径规划 → 学习推进 → 状态反馈”的完整闭环。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35517-220A-49AA-81FB-3B7AC0E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95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B25C2-9BF5-4407-8842-69A289B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3865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45368"/>
                </a:solidFill>
              </a:defRPr>
            </a:pPr>
            <a:r>
              <a:rPr sz="1500" b="0">
                <a:solidFill>
                  <a:srgbClr val="445368"/>
                </a:solidFill>
              </a:rPr>
              <a:t>作品已具备较完整的 AI 应用实践原型基础，兼具展示价值与产品化潜力。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20A21-4E89-4B15-A3D4-CB7AFCC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388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28197"/>
                </a:solidFill>
              </a:defRPr>
            </a:pPr>
            <a:r>
              <a:rPr sz="1350" b="0">
                <a:solidFill>
                  <a:srgbClr val="728197"/>
                </a:solidFill>
              </a:rPr>
              <a:t>感谢各位评委老师聆听，期待批评指正。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4BD9A-FBC0-4753-81BF-69A105FB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28197"/>
                </a:solidFill>
              </a:defRPr>
            </a:pPr>
            <a:r>
              <a:rPr sz="900" b="0">
                <a:solidFill>
                  <a:srgbClr val="728197"/>
                </a:solidFill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673573356"/>
      </p:ext>
    </p:extLst>
  </p:cSld>
</p:sld>
</file>

<file path=ppt/theme/theme1.xml><?xml version="1.0" encoding="utf-8"?>
<a:theme xmlns:a="http://schemas.openxmlformats.org/drawingml/2006/main" name="KnowPath">
  <a:themeElements>
    <a:clrScheme name="KnowPath">
      <a:accent1>
        <a:srgbClr val="4F6BFF"/>
      </a:accent1>
      <a:accent2>
        <a:srgbClr val="7A5CFF"/>
      </a:accent2>
      <a:accent3>
        <a:srgbClr val="00C2A8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nowPath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2026-04-20T07:41:25.1760000Z</dcterms:created>
  <dcterms:modified xsi:type="dcterms:W3CDTF">2026-04-20T07:41:25.1760000Z</dcterms:modified>
</coreProperties>
</file>